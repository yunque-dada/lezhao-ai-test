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8FAFC"/>
                </a:solidFill>
              </a:defRPr>
            </a:pPr>
            <a:r>
              <a:t>神奇的万花筒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8FAFC"/>
                </a:solidFill>
              </a:defRPr>
            </a:pPr>
            <a:r>
              <a:t>用Python画出炫彩图案</a:t>
            </a:r>
            <a:br/>
            <a:r>
              <a:t>Python海龟画图进阶课程</a:t>
            </a:r>
            <a:br/>
            <a:r>
              <a:t>适合年级：小学3～6年级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366F1"/>
                </a:solidFill>
              </a:defRPr>
            </a:pPr>
            <a:r>
              <a:t>今天我们要学什么？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E1B4B"/>
                </a:solidFill>
              </a:defRPr>
            </a:pPr>
            <a:r>
              <a:t>• 回顾海龟画图的基本命令</a:t>
            </a:r>
          </a:p>
          <a:p>
            <a:pPr>
              <a:spcAft>
                <a:spcPts val="1200"/>
              </a:spcAft>
              <a:defRPr sz="2200">
                <a:solidFill>
                  <a:srgbClr val="1E1B4B"/>
                </a:solidFill>
              </a:defRPr>
            </a:pPr>
            <a:r>
              <a:t>• 学会用for循环重复画图</a:t>
            </a:r>
          </a:p>
          <a:p>
            <a:pPr>
              <a:spcAft>
                <a:spcPts val="1200"/>
              </a:spcAft>
              <a:defRPr sz="2200">
                <a:solidFill>
                  <a:srgbClr val="1E1B4B"/>
                </a:solidFill>
              </a:defRPr>
            </a:pPr>
            <a:r>
              <a:t>• 学会用random模块让颜色随机变化</a:t>
            </a:r>
          </a:p>
          <a:p>
            <a:pPr>
              <a:spcAft>
                <a:spcPts val="1200"/>
              </a:spcAft>
              <a:defRPr sz="2200">
                <a:solidFill>
                  <a:srgbClr val="1E1B4B"/>
                </a:solidFill>
              </a:defRPr>
            </a:pPr>
            <a:r>
              <a:t>• 学会用旋转和大小变化创造炫酷效果</a:t>
            </a:r>
          </a:p>
          <a:p>
            <a:pPr>
              <a:spcAft>
                <a:spcPts val="1200"/>
              </a:spcAft>
              <a:defRPr sz="2200">
                <a:solidFill>
                  <a:srgbClr val="1E1B4B"/>
                </a:solidFill>
              </a:defRPr>
            </a:pPr>
            <a:r>
              <a:t>• 自己动手设计独一无二的万花筒图案！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366F1"/>
                </a:solidFill>
              </a:defRPr>
            </a:pPr>
            <a:r>
              <a:t>你玩过万花筒吗？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E1B4B"/>
                </a:solidFill>
              </a:defRPr>
            </a:pPr>
            <a:r>
              <a:t>• 万花筒是一种光学玩具，里面有多彩的图案</a:t>
            </a:r>
          </a:p>
          <a:p>
            <a:pPr>
              <a:spcAft>
                <a:spcPts val="1200"/>
              </a:spcAft>
              <a:defRPr sz="2200">
                <a:solidFill>
                  <a:srgbClr val="1E1B4B"/>
                </a:solidFill>
              </a:defRPr>
            </a:pPr>
            <a:r>
              <a:t>• 转动万花筒，图案会不断变化，非常漂亮</a:t>
            </a:r>
          </a:p>
          <a:p>
            <a:pPr>
              <a:spcAft>
                <a:spcPts val="1200"/>
              </a:spcAft>
              <a:defRPr sz="2200">
                <a:solidFill>
                  <a:srgbClr val="1E1B4B"/>
                </a:solidFill>
              </a:defRPr>
            </a:pPr>
          </a:p>
          <a:p>
            <a:pPr>
              <a:spcAft>
                <a:spcPts val="1200"/>
              </a:spcAft>
              <a:defRPr sz="2200">
                <a:solidFill>
                  <a:srgbClr val="1E1B4B"/>
                </a:solidFill>
              </a:defRPr>
            </a:pPr>
            <a:r>
              <a:t>• 今天我们就要用Python来创造数字万花筒！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366F1"/>
                </a:solidFill>
              </a:defRPr>
            </a:pPr>
            <a:r>
              <a:t>让我们开始吧！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E1B4B"/>
                </a:solidFill>
              </a:defRPr>
            </a:pPr>
            <a:r>
              <a:t>• 打开Python（IDLE或Thonny）</a:t>
            </a:r>
          </a:p>
          <a:p>
            <a:pPr>
              <a:spcAft>
                <a:spcPts val="1200"/>
              </a:spcAft>
              <a:defRPr sz="2200">
                <a:solidFill>
                  <a:srgbClr val="1E1B4B"/>
                </a:solidFill>
              </a:defRPr>
            </a:pPr>
            <a:r>
              <a:t>• 导入需要的模块：turtle 和 random</a:t>
            </a:r>
          </a:p>
          <a:p>
            <a:pPr>
              <a:spcAft>
                <a:spcPts val="1200"/>
              </a:spcAft>
              <a:defRPr sz="2200">
                <a:solidFill>
                  <a:srgbClr val="1E1B4B"/>
                </a:solidFill>
              </a:defRPr>
            </a:pPr>
            <a:r>
              <a:t>• 设置画笔速度和背景颜色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097280"/>
            <a:ext cx="5486400" cy="4846320"/>
          </a:xfrm>
          <a:prstGeom prst="roundRect">
            <a:avLst/>
          </a:prstGeom>
          <a:solidFill>
            <a:srgbClr val="F2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F172A"/>
                </a:solidFill>
                <a:latin typeface="Consolas"/>
              </a:defRPr>
            </a:pPr>
            <a:r>
              <a:t>import turtle</a:t>
            </a:r>
            <a:br/>
            <a:r>
              <a:t>import random</a:t>
            </a:r>
            <a:br/>
            <a:br/>
            <a:r>
              <a:t>t = turtle.Turtle()</a:t>
            </a:r>
            <a:br/>
            <a:r>
              <a:t>t.speed(0)</a:t>
            </a:r>
            <a:br/>
            <a:r>
              <a:t>turtle.bgcolor("black")</a:t>
            </a:r>
            <a:br/>
            <a:r>
              <a:t>t.pensize(2)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366F1"/>
                </a:solidFill>
              </a:defRPr>
            </a:pPr>
            <a:r>
              <a:t>五颜六色的画笔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E1B4B"/>
                </a:solidFill>
              </a:defRPr>
            </a:pPr>
            <a:r>
              <a:t>• 创建一个颜色列表</a:t>
            </a:r>
          </a:p>
          <a:p>
            <a:pPr>
              <a:spcAft>
                <a:spcPts val="1200"/>
              </a:spcAft>
              <a:defRPr sz="2200">
                <a:solidFill>
                  <a:srgbClr val="1E1B4B"/>
                </a:solidFill>
              </a:defRPr>
            </a:pPr>
            <a:r>
              <a:t>• 让程序随机挑选颜色</a:t>
            </a:r>
          </a:p>
          <a:p>
            <a:pPr>
              <a:spcAft>
                <a:spcPts val="1200"/>
              </a:spcAft>
              <a:defRPr sz="2200">
                <a:solidFill>
                  <a:srgbClr val="1E1B4B"/>
                </a:solidFill>
              </a:defRPr>
            </a:pPr>
            <a:r>
              <a:t>• 颜色名字用英文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097280"/>
            <a:ext cx="5486400" cy="4846320"/>
          </a:xfrm>
          <a:prstGeom prst="roundRect">
            <a:avLst/>
          </a:prstGeom>
          <a:solidFill>
            <a:srgbClr val="F2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F172A"/>
                </a:solidFill>
                <a:latin typeface="Consolas"/>
              </a:defRPr>
            </a:pPr>
            <a:r>
              <a:t>colors = ["red", "orange", "yellow", </a:t>
            </a:r>
            <a:br/>
            <a:r>
              <a:t>          "green", "blue", "purple", </a:t>
            </a:r>
            <a:br/>
            <a:r>
              <a:t>          "pink", "cyan", "magenta"]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366F1"/>
                </a:solidFill>
              </a:defRPr>
            </a:pPr>
            <a:r>
              <a:t>先画一个简单的图形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E1B4B"/>
                </a:solidFill>
              </a:defRPr>
            </a:pPr>
            <a:r>
              <a:t>• 正八边形有8条边</a:t>
            </a:r>
          </a:p>
          <a:p>
            <a:pPr>
              <a:spcAft>
                <a:spcPts val="1200"/>
              </a:spcAft>
              <a:defRPr sz="2200">
                <a:solidFill>
                  <a:srgbClr val="1E1B4B"/>
                </a:solidFill>
              </a:defRPr>
            </a:pPr>
            <a:r>
              <a:t>• 每次右转45度</a:t>
            </a:r>
          </a:p>
          <a:p>
            <a:pPr>
              <a:spcAft>
                <a:spcPts val="1200"/>
              </a:spcAft>
              <a:defRPr sz="2200">
                <a:solidFill>
                  <a:srgbClr val="1E1B4B"/>
                </a:solidFill>
              </a:defRPr>
            </a:pPr>
            <a:r>
              <a:t>• 边长100像素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097280"/>
            <a:ext cx="5486400" cy="4846320"/>
          </a:xfrm>
          <a:prstGeom prst="roundRect">
            <a:avLst/>
          </a:prstGeom>
          <a:solidFill>
            <a:srgbClr val="F2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F172A"/>
                </a:solidFill>
                <a:latin typeface="Consolas"/>
              </a:defRPr>
            </a:pPr>
            <a:r>
              <a:t>for side in range(8):</a:t>
            </a:r>
            <a:br/>
            <a:r>
              <a:t>    t.forward(100)</a:t>
            </a:r>
            <a:br/>
            <a:r>
              <a:t>    t.right(45)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366F1"/>
                </a:solidFill>
              </a:defRPr>
            </a:pPr>
            <a:r>
              <a:t>给图形穿上彩色外衣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E1B4B"/>
                </a:solidFill>
              </a:defRPr>
            </a:pPr>
            <a:r>
              <a:t>• 每次画边之前</a:t>
            </a:r>
          </a:p>
          <a:p>
            <a:pPr>
              <a:spcAft>
                <a:spcPts val="1200"/>
              </a:spcAft>
              <a:defRPr sz="2200">
                <a:solidFill>
                  <a:srgbClr val="1E1B4B"/>
                </a:solidFill>
              </a:defRPr>
            </a:pPr>
            <a:r>
              <a:t>• 从颜色列表中随机选一个颜色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097280"/>
            <a:ext cx="5486400" cy="4846320"/>
          </a:xfrm>
          <a:prstGeom prst="roundRect">
            <a:avLst/>
          </a:prstGeom>
          <a:solidFill>
            <a:srgbClr val="F2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F172A"/>
                </a:solidFill>
                <a:latin typeface="Consolas"/>
              </a:defRPr>
            </a:pPr>
            <a:r>
              <a:t>for side in range(8):</a:t>
            </a:r>
            <a:br/>
            <a:r>
              <a:t>    t.color(random.choice(colors))</a:t>
            </a:r>
            <a:br/>
            <a:r>
              <a:t>    t.forward(100)</a:t>
            </a:r>
            <a:br/>
            <a:r>
              <a:t>    t.right(45)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366F1"/>
                </a:solidFill>
              </a:defRPr>
            </a:pPr>
            <a:r>
              <a:t>转起来！变成万花筒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E1B4B"/>
                </a:solidFill>
              </a:defRPr>
            </a:pPr>
            <a:r>
              <a:t>• 画完一个八边形后</a:t>
            </a:r>
          </a:p>
          <a:p>
            <a:pPr>
              <a:spcAft>
                <a:spcPts val="1200"/>
              </a:spcAft>
              <a:defRPr sz="2200">
                <a:solidFill>
                  <a:srgbClr val="1E1B4B"/>
                </a:solidFill>
              </a:defRPr>
            </a:pPr>
            <a:r>
              <a:t>• 将海龟旋转一个小角度（比如10度）</a:t>
            </a:r>
          </a:p>
          <a:p>
            <a:pPr>
              <a:spcAft>
                <a:spcPts val="1200"/>
              </a:spcAft>
              <a:defRPr sz="2200">
                <a:solidFill>
                  <a:srgbClr val="1E1B4B"/>
                </a:solidFill>
              </a:defRPr>
            </a:pPr>
            <a:r>
              <a:t>• 再画下一个八边形</a:t>
            </a:r>
          </a:p>
          <a:p>
            <a:pPr>
              <a:spcAft>
                <a:spcPts val="1200"/>
              </a:spcAft>
              <a:defRPr sz="2200">
                <a:solidFill>
                  <a:srgbClr val="1E1B4B"/>
                </a:solidFill>
              </a:defRPr>
            </a:pPr>
            <a:r>
              <a:t>• 形成旋转效果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097280"/>
            <a:ext cx="5486400" cy="4846320"/>
          </a:xfrm>
          <a:prstGeom prst="roundRect">
            <a:avLst/>
          </a:prstGeom>
          <a:solidFill>
            <a:srgbClr val="F2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F172A"/>
                </a:solidFill>
                <a:latin typeface="Consolas"/>
              </a:defRPr>
            </a:pPr>
            <a:r>
              <a:t>for times in range(36):</a:t>
            </a:r>
            <a:br/>
            <a:r>
              <a:t>    for side in range(8):</a:t>
            </a:r>
            <a:br/>
            <a:r>
              <a:t>        t.color(random.choice(colors))</a:t>
            </a:r>
            <a:br/>
            <a:r>
              <a:t>        t.forward(100)</a:t>
            </a:r>
            <a:br/>
            <a:r>
              <a:t>        t.right(45)</a:t>
            </a:r>
            <a:br/>
            <a:r>
              <a:t>    t.right(10)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366F1"/>
                </a:solidFill>
              </a:defRPr>
            </a:pPr>
            <a:r>
              <a:t>让图案有层次感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E1B4B"/>
                </a:solidFill>
              </a:defRPr>
            </a:pPr>
            <a:r>
              <a:t>• 每次画完一圈</a:t>
            </a:r>
          </a:p>
          <a:p>
            <a:pPr>
              <a:spcAft>
                <a:spcPts val="1200"/>
              </a:spcAft>
              <a:defRPr sz="2200">
                <a:solidFill>
                  <a:srgbClr val="1E1B4B"/>
                </a:solidFill>
              </a:defRPr>
            </a:pPr>
            <a:r>
              <a:t>• 把边长增加一点点</a:t>
            </a:r>
          </a:p>
          <a:p>
            <a:pPr>
              <a:spcAft>
                <a:spcPts val="1200"/>
              </a:spcAft>
              <a:defRPr sz="2200">
                <a:solidFill>
                  <a:srgbClr val="1E1B4B"/>
                </a:solidFill>
              </a:defRPr>
            </a:pPr>
            <a:r>
              <a:t>• 形成螺旋上升的效果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097280"/>
            <a:ext cx="5486400" cy="4846320"/>
          </a:xfrm>
          <a:prstGeom prst="roundRect">
            <a:avLst/>
          </a:prstGeom>
          <a:solidFill>
            <a:srgbClr val="F2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F172A"/>
                </a:solidFill>
                <a:latin typeface="Consolas"/>
              </a:defRPr>
            </a:pPr>
            <a:r>
              <a:t>size = 50</a:t>
            </a:r>
            <a:br/>
            <a:r>
              <a:t>for times in range(30):</a:t>
            </a:r>
            <a:br/>
            <a:r>
              <a:t>    for side in range(8):</a:t>
            </a:r>
            <a:br/>
            <a:r>
              <a:t>        t.color(random.choice(colors))</a:t>
            </a:r>
            <a:br/>
            <a:r>
              <a:t>        t.forward(size)</a:t>
            </a:r>
            <a:br/>
            <a:r>
              <a:t>        t.right(45)</a:t>
            </a:r>
            <a:br/>
            <a:r>
              <a:t>    t.right(15)</a:t>
            </a:r>
            <a:br/>
            <a:r>
              <a:t>    size = size + 3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366F1"/>
                </a:solidFill>
              </a:defRPr>
            </a:pPr>
            <a:r>
              <a:t>一起来运行吧！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E1B4B"/>
                </a:solidFill>
              </a:defRPr>
            </a:pPr>
            <a:r>
              <a:t>• 这是我们这节课的最终代码</a:t>
            </a:r>
          </a:p>
          <a:p>
            <a:pPr>
              <a:spcAft>
                <a:spcPts val="1200"/>
              </a:spcAft>
              <a:defRPr sz="2200">
                <a:solidFill>
                  <a:srgbClr val="1E1B4B"/>
                </a:solidFill>
              </a:defRPr>
            </a:pPr>
            <a:r>
              <a:t>• 可以直接复制运行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097280"/>
            <a:ext cx="5486400" cy="4846320"/>
          </a:xfrm>
          <a:prstGeom prst="roundRect">
            <a:avLst/>
          </a:prstGeom>
          <a:solidFill>
            <a:srgbClr val="F2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F172A"/>
                </a:solidFill>
                <a:latin typeface="Consolas"/>
              </a:defRPr>
            </a:pPr>
            <a:r>
              <a:t>import turtle</a:t>
            </a:r>
            <a:br/>
            <a:r>
              <a:t>import random</a:t>
            </a:r>
            <a:br/>
            <a:br/>
            <a:r>
              <a:t>t = turtle.Turtle()</a:t>
            </a:r>
            <a:br/>
            <a:r>
              <a:t>t.speed(0)</a:t>
            </a:r>
            <a:br/>
            <a:r>
              <a:t>turtle.bgcolor("black")</a:t>
            </a:r>
            <a:br/>
            <a:r>
              <a:t>t.pensize(2)</a:t>
            </a:r>
            <a:br/>
            <a:br/>
            <a:r>
              <a:t>colors = ["red", "orange", "yellow", </a:t>
            </a:r>
            <a:br/>
            <a:r>
              <a:t>          "green", "blue", "purple", </a:t>
            </a:r>
            <a:br/>
            <a:r>
              <a:t>          "pink", "cyan", "magenta"]</a:t>
            </a:r>
            <a:br/>
            <a:br/>
            <a:r>
              <a:t>size = 20</a:t>
            </a:r>
            <a:br/>
            <a:r>
              <a:t>for times in range(72):</a:t>
            </a:r>
            <a:br/>
            <a:r>
              <a:t>    t.color(random.choice(colors))</a:t>
            </a:r>
            <a:br/>
            <a:r>
              <a:t>    for side in range(30):</a:t>
            </a:r>
            <a:br/>
            <a:r>
              <a:t>        t.forward(size)</a:t>
            </a:r>
            <a:br/>
            <a:r>
              <a:t>        t.right(91)</a:t>
            </a:r>
            <a:br/>
            <a:r>
              <a:t>        size += 1</a:t>
            </a:r>
            <a:br/>
            <a:r>
              <a:t>    t.right(5)</a:t>
            </a:r>
            <a:br/>
            <a:br/>
            <a:r>
              <a:t>t.hideturtle()</a:t>
            </a:r>
            <a:br/>
            <a:r>
              <a:t>turtle.done()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366F1"/>
                </a:solidFill>
              </a:defRPr>
            </a:pPr>
            <a:r>
              <a:t>变身小小艺术家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E1B4B"/>
                </a:solidFill>
              </a:defRPr>
            </a:pPr>
            <a:r>
              <a:t>• 外循环次数：72 -&gt; 36 或 120</a:t>
            </a:r>
          </a:p>
          <a:p>
            <a:pPr>
              <a:spcAft>
                <a:spcPts val="1200"/>
              </a:spcAft>
              <a:defRPr sz="2200">
                <a:solidFill>
                  <a:srgbClr val="1E1B4B"/>
                </a:solidFill>
              </a:defRPr>
            </a:pPr>
            <a:r>
              <a:t>• 内循环次数：30 -&gt; 10 或 50</a:t>
            </a:r>
          </a:p>
          <a:p>
            <a:pPr>
              <a:spcAft>
                <a:spcPts val="1200"/>
              </a:spcAft>
              <a:defRPr sz="2200">
                <a:solidFill>
                  <a:srgbClr val="1E1B4B"/>
                </a:solidFill>
              </a:defRPr>
            </a:pPr>
            <a:r>
              <a:t>• 旋转角度：5 -&gt; 10 或 2</a:t>
            </a:r>
          </a:p>
          <a:p>
            <a:pPr>
              <a:spcAft>
                <a:spcPts val="1200"/>
              </a:spcAft>
              <a:defRPr sz="2200">
                <a:solidFill>
                  <a:srgbClr val="1E1B4B"/>
                </a:solidFill>
              </a:defRPr>
            </a:pPr>
            <a:r>
              <a:t>• 颜色列表：添加自己喜欢的颜色</a:t>
            </a:r>
          </a:p>
          <a:p>
            <a:pPr>
              <a:spcAft>
                <a:spcPts val="1200"/>
              </a:spcAft>
              <a:defRPr sz="2200">
                <a:solidFill>
                  <a:srgbClr val="1E1B4B"/>
                </a:solidFill>
              </a:defRPr>
            </a:pPr>
          </a:p>
          <a:p>
            <a:pPr>
              <a:spcAft>
                <a:spcPts val="1200"/>
              </a:spcAft>
              <a:defRPr sz="2200">
                <a:solidFill>
                  <a:srgbClr val="1E1B4B"/>
                </a:solidFill>
              </a:defRPr>
            </a:pPr>
            <a:r>
              <a:t>• 和同桌比一比，谁画出的图案最漂亮！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366F1"/>
                </a:solidFill>
              </a:defRPr>
            </a:pPr>
            <a:r>
              <a:t>展示你的万花筒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E1B4B"/>
                </a:solidFill>
              </a:defRPr>
            </a:pPr>
            <a:r>
              <a:t>• 运行你的程序，保存截图</a:t>
            </a:r>
          </a:p>
          <a:p>
            <a:pPr>
              <a:spcAft>
                <a:spcPts val="1200"/>
              </a:spcAft>
              <a:defRPr sz="2200">
                <a:solidFill>
                  <a:srgbClr val="1E1B4B"/>
                </a:solidFill>
              </a:defRPr>
            </a:pPr>
          </a:p>
          <a:p>
            <a:pPr>
              <a:spcAft>
                <a:spcPts val="1200"/>
              </a:spcAft>
              <a:defRPr sz="2200">
                <a:solidFill>
                  <a:srgbClr val="1E1B4B"/>
                </a:solidFill>
              </a:defRPr>
            </a:pPr>
            <a:r>
              <a:t>• 向大家介绍你的作品：</a:t>
            </a:r>
          </a:p>
          <a:p>
            <a:pPr>
              <a:spcAft>
                <a:spcPts val="1200"/>
              </a:spcAft>
              <a:defRPr sz="2200">
                <a:solidFill>
                  <a:srgbClr val="1E1B4B"/>
                </a:solidFill>
              </a:defRPr>
            </a:pPr>
            <a:r>
              <a:t>• 用了哪些颜色？改了哪些参数？</a:t>
            </a:r>
          </a:p>
          <a:p>
            <a:pPr>
              <a:spcAft>
                <a:spcPts val="1200"/>
              </a:spcAft>
              <a:defRPr sz="2200">
                <a:solidFill>
                  <a:srgbClr val="1E1B4B"/>
                </a:solidFill>
              </a:defRPr>
            </a:pPr>
          </a:p>
          <a:p>
            <a:pPr>
              <a:spcAft>
                <a:spcPts val="1200"/>
              </a:spcAft>
              <a:defRPr sz="2200">
                <a:solidFill>
                  <a:srgbClr val="1E1B4B"/>
                </a:solidFill>
              </a:defRPr>
            </a:pPr>
            <a:r>
              <a:t>• 说说你最喜欢的地方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366F1"/>
                </a:solidFill>
              </a:defRPr>
            </a:pPr>
            <a:r>
              <a:t>今天我们学会了……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E1B4B"/>
                </a:solidFill>
              </a:defRPr>
            </a:pPr>
            <a:r>
              <a:t>• 用循环画出重复图案</a:t>
            </a:r>
          </a:p>
          <a:p>
            <a:pPr>
              <a:spcAft>
                <a:spcPts val="1200"/>
              </a:spcAft>
              <a:defRPr sz="2200">
                <a:solidFill>
                  <a:srgbClr val="1E1B4B"/>
                </a:solidFill>
              </a:defRPr>
            </a:pPr>
            <a:r>
              <a:t>• 用随机数让颜色多变</a:t>
            </a:r>
          </a:p>
          <a:p>
            <a:pPr>
              <a:spcAft>
                <a:spcPts val="1200"/>
              </a:spcAft>
              <a:defRPr sz="2200">
                <a:solidFill>
                  <a:srgbClr val="1E1B4B"/>
                </a:solidFill>
              </a:defRPr>
            </a:pPr>
            <a:r>
              <a:t>• 通过旋转和大小变化创造动态效果</a:t>
            </a:r>
          </a:p>
          <a:p>
            <a:pPr>
              <a:spcAft>
                <a:spcPts val="1200"/>
              </a:spcAft>
              <a:defRPr sz="2200">
                <a:solidFill>
                  <a:srgbClr val="1E1B4B"/>
                </a:solidFill>
              </a:defRPr>
            </a:pPr>
          </a:p>
          <a:p>
            <a:pPr>
              <a:spcAft>
                <a:spcPts val="1200"/>
              </a:spcAft>
              <a:defRPr sz="2200">
                <a:solidFill>
                  <a:srgbClr val="1E1B4B"/>
                </a:solidFill>
              </a:defRPr>
            </a:pPr>
            <a:r>
              <a:t>• 编程不仅能解决问题，还能创作艺术！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366F1"/>
                </a:solidFill>
              </a:defRPr>
            </a:pPr>
            <a:r>
              <a:t>课后可以继续探索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E1B4B"/>
                </a:solidFill>
              </a:defRPr>
            </a:pPr>
            <a:r>
              <a:t>• 颜色渐变：试试不用随机，让颜色按顺序变化</a:t>
            </a:r>
          </a:p>
          <a:p>
            <a:pPr>
              <a:spcAft>
                <a:spcPts val="1200"/>
              </a:spcAft>
              <a:defRPr sz="2200">
                <a:solidFill>
                  <a:srgbClr val="1E1B4B"/>
                </a:solidFill>
              </a:defRPr>
            </a:pPr>
          </a:p>
          <a:p>
            <a:pPr>
              <a:spcAft>
                <a:spcPts val="1200"/>
              </a:spcAft>
              <a:defRPr sz="2200">
                <a:solidFill>
                  <a:srgbClr val="1E1B4B"/>
                </a:solidFill>
              </a:defRPr>
            </a:pPr>
            <a:r>
              <a:t>• 图形变形：把正八边形改成五边形或圆形</a:t>
            </a:r>
          </a:p>
          <a:p>
            <a:pPr>
              <a:spcAft>
                <a:spcPts val="1200"/>
              </a:spcAft>
              <a:defRPr sz="2200">
                <a:solidFill>
                  <a:srgbClr val="1E1B4B"/>
                </a:solidFill>
              </a:defRPr>
            </a:pPr>
          </a:p>
          <a:p>
            <a:pPr>
              <a:spcAft>
                <a:spcPts val="1200"/>
              </a:spcAft>
              <a:defRPr sz="2200">
                <a:solidFill>
                  <a:srgbClr val="1E1B4B"/>
                </a:solidFill>
              </a:defRPr>
            </a:pPr>
            <a:r>
              <a:t>• 家庭作业：创作「送给妈妈的万花筒」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8FAFC"/>
                </a:solidFill>
              </a:defRPr>
            </a:pPr>
            <a:r>
              <a:t>谢谢大家！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8FAFC"/>
                </a:solidFill>
              </a:defRPr>
            </a:pPr>
            <a:r>
              <a:t>期待你们的创意作品</a:t>
            </a:r>
            <a:br/>
            <a:r>
              <a:t>Q&amp;A环节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